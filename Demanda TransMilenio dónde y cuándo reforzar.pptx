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 análisis de las validaciones de la troncal de TransMilenio para responder una pregunta operativa: en qué estaciones y en qué horas de los días hábiles conviene poner personal de apoyo para gestionar filas y mantener el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dos fuentes públicas: los archivos diarios de validaciones de la troncal y el listado de estaciones con su ubicación. En total son 21 días, 154 estaciones y más de 31 millones de validaciones. Para que el análisis fuera manejable, convertimos las transacciones en una tabla agregada: cada fila es una estación, en una fecha y una hora, con cuántas personas validaron.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pregunta que guía todo el trabajo. Tiene dos dimensiones: el dónde (qué estaciones) y el cuándo (qué franjas de los días hábiles). La medida de demanda son las validaciones de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Tomamos dos semanas típicas, sin festivos, que son la base del análisis, y una tercera semana que incluye el festivo del 7 de agosto para comparar. Se ve de inmediato que los días hábiles son muy parecidos entre sí, alrededor de 1,85 millones de validaciones, mientras que el sábado baja a cerca de la mitad y el domingo a menos de un tercio. El festivo se comporta igual que un domingo. Dividimos el día en cinco franjas: madrugada, pico de la mañana, mediodía, pico de la tarde y 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días hábiles hay dos picos muy claros. El de la mañana, a las 6, es el más alto y concentrado: todos tienen una hora fija de llegada. El de la tarde, a las 5, es más bajo y se reparte en más horas; una hipótesis es que la gente regresa en horarios más variados o por otros medios. Sábado, domingo y festivo no tienen picos, son curvas planas. Por eso el foco del refuerzo está en los días hábiles.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justifica una decisión. Arriba están los 21 días juntos: las cajas son enormes porque mezclamos días muy distintos. Abajo, solo los días hábiles: las cajas casi desaparecen, lo que significa que a una misma hora la demanda es casi igual todos los días hábiles. Como el festivo se comportó como un domingo y no aporta a nuestro objetivo, lo excluimos. Esta estabilidad será clave más adelante, cuando hablemos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burbuja es una estación y su tamaño es la demanda por hora. En la mañana, las burbujas grandes están en los portales del sur y del occidente, que reciben a la gente de las zonas residenciales. En la tarde la demanda se desplaza hacia el norte y el centro, donde están las oficinas y el comercio. El tipo de estación, residencial, empresarial o portal, explica buena parte del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Armamos un ranking por franja según el número de validaciones en la hora crítica de cada estación. En la mañana dominan los portales, porque reciben a la gente de las zonas residenciales. El top 5 de la mañana es Portal Américas, Portal Suba, Portal Sur, Cabecera Usme y Portal Norte. En la tarde aparecen Calle 100, Museo Nacional, Flores, San Victorino y Virrey, rodeadas de oficinas y comercio. El dato clave: apenas el 5 por ciento de las combinaciones estación y hora reúne casi el 40 por ciento de la demanda. Eso justifica no repartir el personal por igual, sino concentrarlo donde y cuando hace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Agrupamos las estaciones con K-Means usando solo la forma de su curva horaria, sin importar cuánta gente mueven. Salen cuatro perfiles: residencial con salida fuerte en la mañana, residencial moderado, mixto o de transbordo, y destino con salida en la tarde. Dentro de cada perfil hay estaciones pequeñas y muy grandes, así que el perfil dice cuándo reforzar y el volumen dice cuánto. Esto permite organizar turnos por tipo de estación.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un mismo portal la demanda no entra por un solo punto. Entre la mitad y tres cuartas partes de las validaciones entran por las plataformas de alimentación. Por eso no basta con poner todo el apoyo en la entrada peatonal: hay que repartirlo en los accesos donde realmente se forman las filas en la hora 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puente entre el diagnóstico y el modelo. Todo lo anterior describe el pasado: dónde y cuándo hubo más demanda. Pero para asignar personal, el operador necesita decidir antes: mañana, a las 6, en qué estación va a hacer falta gente. Por eso el modelo responde una pregunta concreta: con los datos de días anteriores, ¿qué tan bien podemos predecir las validaciones de cada estación en cada hora del día siguiente? Y, muy importante, con qué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elegir un modelo hay que entender la variable. Como las validaciones son conteos (números enteros), en vez del R² usamos su equivalente para conteos, la devianza de Poisson explicada; se lee igual: de 0 a 100 por ciento, qué tanto explica. Medimos cuánto de la variación de las validaciones se explica con cada combinación de variables. La hora sola explica 23 por ciento; la estación sola, 47. Pero si combinamos estación, hora y tipo de día llegamos a 98,4 por ciento. Traducido: si sé qué estación es, qué hora es y si es día hábil, ya sé casi exactamente cuánta gente va a validar. El 1,6 por ciento restante es la variación de un día a otro, que es justamente lo que un pronóstico tiene que anticipar. Y esa variación es pequeña: en promedio 3,5 por ciento entre días hábiles. Conclusión: el pasado de cada estación a cada hora es la mejor guía para el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evaluar de forma honesta simulamos lo que pasaría en la operación real: entrenamos con los primeros 8 días y medimos el error en los 3 días hábiles siguientes, que el modelo nunca vio. Comparamos cuatro métodos sencillos, los que haría un analista a mano, contra un modelo de Machine Learning, un Gradient Boosting con pérdida Poisson, que es la adecuada porque la variable es un conteo. La métrica es el WAPE: el error total dividido por las validaciones reales. Si es 6 por ciento, nos equivocamos en 6 de cada 100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resultado central. El mejor método es el más simple: para predecir cuántas personas validarán mañana a las 6 en Portal Américas, se promedian las validaciones de esa misma estación, a esa misma hora, en los días hábiles anteriores. Con eso el error es de 6 por ciento en todo el día y de 5,4 por ciento en las horas pico, que son las que más nos importan. El modelo de Machine Learning, aunque es más sofisticado, tiene un error de 7,8 por ciento: un 30 por ciento más que la referencia sencilla. El resultado se mantuvo en los tres días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en la estación más grande del sistema. La línea negra es lo que realmente pasó; la azul, el modelo de Machine Learning; la naranja, el último día comparable. Las tres casi coinciden: el patrón diario es muy predecible. Las diferencias están en la altura exacta del pico de la mañana, que es justamente donde se decide cuánto refuerzo 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justificación. Primero, elegimos el promedio de días comparables porque fue el más preciso. Segundo, no es casualidad: el análisis mostró que la demanda depende casi por completo de la estación, la hora y el tipo de día, y que varía muy poco entre días hábiles; en un sistema así, el promedio histórico es muy difícil de superar. Tercero, el Machine Learning no ganó por falta de datos, no por mala técnica: solo tuvo 8 días para aprender y, de hecho, la variable que más usó fue el mismo promedio. Cuarto, es transparente: cualquier supervisor lo entiende. En ciencia de datos, este tipo de referencia sencilla se llama línea base, y la regla es que un modelo complejo solo se justifica si la supera. Como trabajo futuro, con más semanas y variables externas como eventos, obras o clima, el ML puede aportar justo en las estaciones inestables donde el promedio se equivoca.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respondiendo la pregunta. Dónde: en la mañana, los portales y sus plataformas de alimentación; en la tarde, las estaciones de destino del norte y el centro. Cuándo: en los picos de los días hábiles, y concentrado en pocas combinaciones de estación y hora. Cómo planear: el promedio de los días comparables permite anticipar la demanda del día siguiente con un error cercano al 6 por ciento. Y un límite honesto: estos datos nos dicen dónde y cuándo reforzar, pero para decidir cuántas personas asignar se necesitaría información de capacidad y de tiempos de atención que este conjunto de datos no trae.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62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06602"/>
            <a:ext cx="10566400" cy="403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62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06602"/>
            <a:ext cx="10566400" cy="403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8322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PROYECTO · DEMANDA EN TRANSMILENIO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6492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¿Dónde y cuándo reforzar el personal de apoyo?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296164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Validaciones de la troncal por estación y franja horaria · agosto y septiembre de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8793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Universidad de La Sabana</a:t>
            </a:r>
            <a:endParaRPr lang="en-US" sz="1800" dirty="0"/>
          </a:p>
        </p:txBody>
      </p:sp>
      <p:pic>
        <p:nvPicPr>
          <p:cNvPr id="7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5300980"/>
            <a:ext cx="1016000" cy="25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54279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4E8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Juan Pablo Sánchez · William Caro · Leidy Simijaca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Curso Big Data · 10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LOS DATOS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Cuáles son nuestros datos y de dónde salen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2330450" cy="1409700"/>
          </a:xfrm>
          <a:prstGeom prst="roundRect">
            <a:avLst>
              <a:gd name="adj" fmla="val 5180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89480"/>
            <a:ext cx="197784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21080" y="2743200"/>
            <a:ext cx="1977847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días completos (3 semanas)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05175" y="1984375"/>
            <a:ext cx="2330450" cy="1409700"/>
          </a:xfrm>
          <a:prstGeom prst="roundRect">
            <a:avLst>
              <a:gd name="adj" fmla="val 5180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0280" y="2189480"/>
            <a:ext cx="197784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10280" y="2743200"/>
            <a:ext cx="1977847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estaciones de la troncal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552825"/>
            <a:ext cx="2330450" cy="1409700"/>
          </a:xfrm>
          <a:prstGeom prst="roundRect">
            <a:avLst>
              <a:gd name="adj" fmla="val 5180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757930"/>
            <a:ext cx="197784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31,5 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21080" y="4311650"/>
            <a:ext cx="1977847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validaciones (ingresos con tarjeta)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05175" y="3552825"/>
            <a:ext cx="2330450" cy="1409700"/>
          </a:xfrm>
          <a:prstGeom prst="roundRect">
            <a:avLst>
              <a:gd name="adj" fmla="val 5180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0280" y="3757930"/>
            <a:ext cx="197784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10280" y="4311650"/>
            <a:ext cx="1977847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relevantes conservadas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53760" y="1991360"/>
          <a:ext cx="5425440" cy="1532890"/>
        </p:xfrm>
        <a:graphic>
          <a:graphicData uri="http://schemas.openxmlformats.org/drawingml/2006/table">
            <a:tbl>
              <a:tblPr/>
              <a:tblGrid>
                <a:gridCol w="1844650"/>
                <a:gridCol w="2387194"/>
                <a:gridCol w="1193597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Validaciones diarias TMSA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Validaciones troncales por día (1 ZIP/CSV por día)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Insumo principal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Estaciones troncales (datos abiertos TM)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Nombre, troncal, latitud y longitud de cada estación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Cruce geoespacial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943600" y="3727450"/>
            <a:ext cx="5598668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millones de transacciones individuales pasamos a una tabla mucho más pequeña: </a:t>
            </a: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fila por estación, fecha y hora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con su número de validaciones, nombre y tipo de estación.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validaciones troncales TMSA y datos abiertos de TransMilenio, agosto y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976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BE3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PREGUNTA DE ESTUDIO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51380"/>
            <a:ext cx="10883392" cy="313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0" i="0" dirty="0">
                <a:solidFill>
                  <a:srgbClr val="FBF7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estaciones de la troncal de TransMilenio, y en qué franjas horarias de los días hábiles, concentran la mayor demanda de ingreso y justifican por ello una mayor asignación de personal de apoyo para la gestión de filas y el orden?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QUÉ SE ANALIZÓ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semanas: dos típicas y una con festivo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10560050" cy="2747010"/>
          </a:xfrm>
          <a:prstGeom prst="roundRect">
            <a:avLst>
              <a:gd name="adj" fmla="val 2658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Barras de validaciones por día: los días hábiles rondan 1,85 millones, los sábados 1,1 millones y domingos y el festivo del 7 de agosto unos 0,5 millones">    </p:cNvPr>
          <p:cNvPicPr>
            <a:picLocks noChangeAspect="1"/>
          </p:cNvPicPr>
          <p:nvPr/>
        </p:nvPicPr>
        <p:blipFill>
          <a:blip r:embed="rId1"/>
          <a:srcRect l="-17199" r="-17199" t="0" b="0"/>
          <a:stretch/>
        </p:blipFill>
        <p:spPr>
          <a:xfrm>
            <a:off x="920750" y="1986280"/>
            <a:ext cx="10350500" cy="254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4836161"/>
            <a:ext cx="3141901" cy="967740"/>
          </a:xfrm>
          <a:prstGeom prst="roundRect">
            <a:avLst>
              <a:gd name="adj" fmla="val 7874"/>
            </a:avLst>
          </a:prstGeom>
          <a:solidFill>
            <a:srgbClr val="E3E8EE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4988561"/>
            <a:ext cx="28698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Semanas típicas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0600" y="5240020"/>
            <a:ext cx="286989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10–16 ago y 14–20 sep, sin festivo: base del análisis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7101" y="4836161"/>
            <a:ext cx="3141901" cy="967740"/>
          </a:xfrm>
          <a:prstGeom prst="roundRect">
            <a:avLst>
              <a:gd name="adj" fmla="val 7874"/>
            </a:avLst>
          </a:prstGeom>
          <a:solidFill>
            <a:srgbClr val="E3E8EE"/>
          </a:solidFill>
          <a:ln/>
        </p:spPr>
      </p:sp>
      <p:sp>
        <p:nvSpPr>
          <p:cNvPr id="10" name="Text 7"/>
          <p:cNvSpPr/>
          <p:nvPr/>
        </p:nvSpPr>
        <p:spPr>
          <a:xfrm>
            <a:off x="4284901" y="4988561"/>
            <a:ext cx="28698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de comparación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84901" y="5240020"/>
            <a:ext cx="286989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3–9 ago, incluye el festivo del 7 de agosto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1402" y="4836161"/>
            <a:ext cx="3977799" cy="967740"/>
          </a:xfrm>
          <a:prstGeom prst="roundRect">
            <a:avLst>
              <a:gd name="adj" fmla="val 7874"/>
            </a:avLst>
          </a:prstGeom>
          <a:solidFill>
            <a:srgbClr val="E3E8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79202" y="4988561"/>
            <a:ext cx="37308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Franjas horarias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9202" y="5240020"/>
            <a:ext cx="3730865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Madrugada 4–5 · pico AM 5–9 · mediodía 10–15 · pico PM 16–20 · noche 21–24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validaciones por día (hábil, sábado, domingo y festivo)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DEMANDA A LO LARGO DEL DÍA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Solo el día hábil tiene dos picos marcados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22475"/>
            <a:ext cx="6430010" cy="3191510"/>
          </a:xfrm>
          <a:prstGeom prst="roundRect">
            <a:avLst>
              <a:gd name="adj" fmla="val 2288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Curvas de validaciones por hora: el día hábil tiene picos a las 6 a. m. y 5 p. m.; sábado, domingo y festivo son curvas planas">    </p:cNvPr>
          <p:cNvPicPr>
            <a:picLocks noChangeAspect="1"/>
          </p:cNvPicPr>
          <p:nvPr/>
        </p:nvPicPr>
        <p:blipFill>
          <a:blip r:embed="rId1"/>
          <a:srcRect l="0" r="0" t="-7216" b="-7216"/>
          <a:stretch/>
        </p:blipFill>
        <p:spPr>
          <a:xfrm>
            <a:off x="919480" y="2125982"/>
            <a:ext cx="6223000" cy="298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3960" y="1981200"/>
            <a:ext cx="393999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a. m.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53960" y="2397761"/>
            <a:ext cx="393999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de la mañana: ~210 mil validaciones por hora en todo el sistema. Llegada concentrada a trabajo y estudio.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53960" y="3294382"/>
            <a:ext cx="393999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p. m.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53960" y="3710939"/>
            <a:ext cx="393999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de la tarde: ~188 mil, más bajo y repartido en más horas: el regreso es más flexible.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53960" y="4376421"/>
            <a:ext cx="393999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 de semana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53960" y="4792982"/>
            <a:ext cx="393999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Sábado ≈ 58 % y domingo ≈ 28 % de un hábil, sin picos.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demanda por hora según el tipo de día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DECISIÓN SOBRE LA MUESTRA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Solo días hábiles: un patrón muy estable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6303010" cy="3763010"/>
          </a:xfrm>
          <a:prstGeom prst="roundRect">
            <a:avLst>
              <a:gd name="adj" fmla="val 1941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Boxplots por hora: con los 21 días las cajas son muy anchas; con solo los 14 días hábiles las cajas son estrechas">    </p:cNvPr>
          <p:cNvPicPr>
            <a:picLocks noChangeAspect="1"/>
          </p:cNvPicPr>
          <p:nvPr/>
        </p:nvPicPr>
        <p:blipFill>
          <a:blip r:embed="rId1"/>
          <a:srcRect l="0" r="0" t="-302" b="-302"/>
          <a:stretch/>
        </p:blipFill>
        <p:spPr>
          <a:xfrm>
            <a:off x="919480" y="2087882"/>
            <a:ext cx="6096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26960" y="2266950"/>
            <a:ext cx="40708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los 21 días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26960" y="2561589"/>
            <a:ext cx="40708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cajas son muy anchas: mezclar hábiles, fines de semana y festivo esconde el patrón.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26960" y="3201671"/>
            <a:ext cx="40708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los 14 hábiles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26960" y="3496311"/>
            <a:ext cx="40708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cajas casi se cierran: cada hora se repite de un día a otro.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26960" y="4136389"/>
            <a:ext cx="3952240" cy="1328420"/>
          </a:xfrm>
          <a:prstGeom prst="roundRect">
            <a:avLst>
              <a:gd name="adj" fmla="val 5736"/>
            </a:avLst>
          </a:prstGeom>
          <a:solidFill>
            <a:srgbClr val="18222F"/>
          </a:solidFill>
          <a:ln/>
        </p:spPr>
      </p:sp>
      <p:sp>
        <p:nvSpPr>
          <p:cNvPr id="11" name="Text 8"/>
          <p:cNvSpPr/>
          <p:nvPr/>
        </p:nvSpPr>
        <p:spPr>
          <a:xfrm>
            <a:off x="7604760" y="4314189"/>
            <a:ext cx="370453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04760" y="4593589"/>
            <a:ext cx="370453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festivo se comporta como un domingo: se excluye y el análisis de refuerzo usa días hábiles.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boxplot de validaciones por hora, todos los días frente a solo hábiles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DÓNDE ESTÁ LA DEMANDA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demanda se mueve por la ciudad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10560050" cy="2747010"/>
          </a:xfrm>
          <a:prstGeom prst="roundRect">
            <a:avLst>
              <a:gd name="adj" fmla="val 2658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Mapas de burbujas por franja: en la mañana las burbujas grandes están en los portales del sur y occidente; en la tarde en el corredor norte y el centro">    </p:cNvPr>
          <p:cNvPicPr>
            <a:picLocks noChangeAspect="1"/>
          </p:cNvPicPr>
          <p:nvPr/>
        </p:nvPicPr>
        <p:blipFill>
          <a:blip r:embed="rId1"/>
          <a:srcRect l="-33072" r="-33072" t="0" b="0"/>
          <a:stretch/>
        </p:blipFill>
        <p:spPr>
          <a:xfrm>
            <a:off x="920750" y="1986282"/>
            <a:ext cx="10350500" cy="254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4836161"/>
            <a:ext cx="5207000" cy="967740"/>
          </a:xfrm>
          <a:prstGeom prst="roundRect">
            <a:avLst>
              <a:gd name="adj" fmla="val 7874"/>
            </a:avLst>
          </a:prstGeom>
          <a:solidFill>
            <a:srgbClr val="E3E8EE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4988561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Mañana: nace en los portales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0600" y="5240021"/>
            <a:ext cx="499694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Portales y cabeceras de zonas residenciales: Américas, Sur, Suba, Usme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836161"/>
            <a:ext cx="5207000" cy="967740"/>
          </a:xfrm>
          <a:prstGeom prst="roundRect">
            <a:avLst>
              <a:gd name="adj" fmla="val 7874"/>
            </a:avLst>
          </a:prstGeom>
          <a:solidFill>
            <a:srgbClr val="E3E8EE"/>
          </a:solidFill>
          <a:ln/>
        </p:spPr>
      </p:sp>
      <p:sp>
        <p:nvSpPr>
          <p:cNvPr id="10" name="Text 7"/>
          <p:cNvSpPr/>
          <p:nvPr/>
        </p:nvSpPr>
        <p:spPr>
          <a:xfrm>
            <a:off x="6350000" y="4988561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Tarde: sale de oficinas y comercio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50000" y="5240021"/>
            <a:ext cx="499694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Corredor norte y centro: Calle 100, Calle 76, Héroes, San Victorino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mapa de calor de la demanda por franja (tamaño = validaciones por hora)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RANKING DE REFUERZO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Estaciones que más necesitan refuerzo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6557010" cy="3191510"/>
          </a:xfrm>
          <a:prstGeom prst="roundRect">
            <a:avLst>
              <a:gd name="adj" fmla="val 2288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Top 5 estaciones por validaciones en su hora crítica: en pico AM Portal Américas, Portal Suba, Portal Sur JFK, Cabecera Usme y Portal Norte; en pico PM Calle 100, Museo Nacional, Temporal Flores, San Victorino y Virrey">    </p:cNvPr>
          <p:cNvPicPr>
            <a:picLocks noChangeAspect="1"/>
          </p:cNvPicPr>
          <p:nvPr/>
        </p:nvPicPr>
        <p:blipFill>
          <a:blip r:embed="rId1"/>
          <a:srcRect l="0" r="0" t="-1700" b="-1700"/>
          <a:stretch/>
        </p:blipFill>
        <p:spPr>
          <a:xfrm>
            <a:off x="919480" y="2087882"/>
            <a:ext cx="6350000" cy="298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2000250"/>
            <a:ext cx="38091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AM: portales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0" y="2294889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Puntos donde se concentra la gente que sale de zonas residenciales.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2934971"/>
            <a:ext cx="38091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PM: destinos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3229611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Estaciones rodeadas de oficinas y comercio.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3638550"/>
            <a:ext cx="3698240" cy="1521460"/>
          </a:xfrm>
          <a:prstGeom prst="roundRect">
            <a:avLst>
              <a:gd name="adj" fmla="val 5008"/>
            </a:avLst>
          </a:prstGeom>
          <a:solidFill>
            <a:srgbClr val="18222F"/>
          </a:solidFill>
          <a:ln/>
        </p:spPr>
      </p:sp>
      <p:sp>
        <p:nvSpPr>
          <p:cNvPr id="11" name="Text 8"/>
          <p:cNvSpPr/>
          <p:nvPr/>
        </p:nvSpPr>
        <p:spPr>
          <a:xfrm>
            <a:off x="7858760" y="3816350"/>
            <a:ext cx="344291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0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5 % → 39 %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858760" y="4288792"/>
            <a:ext cx="344291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5 % de las combinaciones estación–hora concentra el 39 % de las validaciones de un día hábil.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ranking de estaciones por franja (días hábiles)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· PERFILES DE ESTACIONES (K-MEANS)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formas de vivir el día hábil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75"/>
            <a:ext cx="10560050" cy="2251710"/>
          </a:xfrm>
          <a:prstGeom prst="roundRect">
            <a:avLst>
              <a:gd name="adj" fmla="val 3243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Curvas promedio de los 4 perfiles K-Means: perfil 0 con pico fuerte a las 6 a. m., perfil 3 pico AM moderado, perfil 2 mixto y perfil 1 con pico a las 5 p. m.">    </p:cNvPr>
          <p:cNvPicPr>
            <a:picLocks noChangeAspect="1"/>
          </p:cNvPicPr>
          <p:nvPr/>
        </p:nvPicPr>
        <p:blipFill>
          <a:blip r:embed="rId1"/>
          <a:srcRect l="-41942" r="-41942" t="0" b="0"/>
          <a:stretch/>
        </p:blipFill>
        <p:spPr>
          <a:xfrm>
            <a:off x="920750" y="1910079"/>
            <a:ext cx="10350500" cy="2095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4264664"/>
            <a:ext cx="2546350" cy="1158240"/>
          </a:xfrm>
          <a:prstGeom prst="roundRect">
            <a:avLst>
              <a:gd name="adj" fmla="val 4386"/>
            </a:avLst>
          </a:prstGeom>
          <a:solidFill>
            <a:srgbClr val="FDFCFA"/>
          </a:solidFill>
          <a:ln/>
        </p:spPr>
      </p:sp>
      <p:sp>
        <p:nvSpPr>
          <p:cNvPr id="7" name="Shape 4"/>
          <p:cNvSpPr/>
          <p:nvPr/>
        </p:nvSpPr>
        <p:spPr>
          <a:xfrm>
            <a:off x="812800" y="4264664"/>
            <a:ext cx="2546350" cy="1158240"/>
          </a:xfrm>
          <a:custGeom>
            <a:avLst/>
            <a:gdLst/>
            <a:ahLst/>
            <a:cxnLst/>
            <a:rect l="l" t="t" r="r" b="b"/>
            <a:pathLst>
              <a:path w="2546350" h="1158240">
                <a:moveTo>
                  <a:pt x="0" y="50800"/>
                </a:moveTo>
                <a:lnTo>
                  <a:pt x="0" y="50800"/>
                </a:lnTo>
                <a:arcTo hR="50800" wR="50800" stAng="10800000" swAng="5400000"/>
                <a:lnTo>
                  <a:pt x="2495550" y="0"/>
                </a:lnTo>
                <a:arcTo hR="50800" wR="50800" stAng="16200000" swAng="5400000"/>
                <a:lnTo>
                  <a:pt x="2546350" y="50800"/>
                </a:lnTo>
                <a:arcTo hR="12700" wR="50800" stAng="0" swAng="-5400000"/>
                <a:lnTo>
                  <a:pt x="50800" y="38100"/>
                </a:lnTo>
                <a:arcTo hR="12700" wR="50800" stAng="16200000" swAng="-5400000"/>
                <a:close/>
              </a:path>
            </a:pathLst>
          </a:cu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965200" y="4427221"/>
            <a:ext cx="23087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Residencial AM fuerte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5200" y="4678679"/>
            <a:ext cx="230879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0 · 23 est. · 66 % en pico AM · Portal Américas, Sur, Suba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86150" y="4264664"/>
            <a:ext cx="2546350" cy="1158240"/>
          </a:xfrm>
          <a:prstGeom prst="roundRect">
            <a:avLst>
              <a:gd name="adj" fmla="val 4386"/>
            </a:avLst>
          </a:prstGeom>
          <a:solidFill>
            <a:srgbClr val="FDFCFA"/>
          </a:solidFill>
          <a:ln/>
        </p:spPr>
      </p:sp>
      <p:sp>
        <p:nvSpPr>
          <p:cNvPr id="11" name="Shape 8"/>
          <p:cNvSpPr/>
          <p:nvPr/>
        </p:nvSpPr>
        <p:spPr>
          <a:xfrm>
            <a:off x="3486150" y="4264664"/>
            <a:ext cx="2546350" cy="1158240"/>
          </a:xfrm>
          <a:custGeom>
            <a:avLst/>
            <a:gdLst/>
            <a:ahLst/>
            <a:cxnLst/>
            <a:rect l="l" t="t" r="r" b="b"/>
            <a:pathLst>
              <a:path w="2546350" h="1158240">
                <a:moveTo>
                  <a:pt x="0" y="50800"/>
                </a:moveTo>
                <a:lnTo>
                  <a:pt x="0" y="50800"/>
                </a:lnTo>
                <a:arcTo hR="50800" wR="50800" stAng="10800000" swAng="5400000"/>
                <a:lnTo>
                  <a:pt x="2495550" y="0"/>
                </a:lnTo>
                <a:arcTo hR="50800" wR="50800" stAng="16200000" swAng="5400000"/>
                <a:lnTo>
                  <a:pt x="2546350" y="50800"/>
                </a:lnTo>
                <a:arcTo hR="12700" wR="50800" stAng="0" swAng="-5400000"/>
                <a:lnTo>
                  <a:pt x="50800" y="38100"/>
                </a:lnTo>
                <a:arcTo hR="12700" wR="50800" stAng="16200000" swAng="-5400000"/>
                <a:close/>
              </a:path>
            </a:pathLst>
          </a:custGeom>
          <a:solidFill>
            <a:srgbClr val="EDA100"/>
          </a:solidFill>
          <a:ln/>
        </p:spPr>
      </p:sp>
      <p:sp>
        <p:nvSpPr>
          <p:cNvPr id="12" name="Text 9"/>
          <p:cNvSpPr/>
          <p:nvPr/>
        </p:nvSpPr>
        <p:spPr>
          <a:xfrm>
            <a:off x="3638550" y="4427221"/>
            <a:ext cx="23087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Residencial moderado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38550" y="4678679"/>
            <a:ext cx="230879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3 · 29 est. · 53 % AM · Portal Norte, Calle 80, Banderas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59500" y="4264664"/>
            <a:ext cx="2546350" cy="1158240"/>
          </a:xfrm>
          <a:prstGeom prst="roundRect">
            <a:avLst>
              <a:gd name="adj" fmla="val 4386"/>
            </a:avLst>
          </a:prstGeom>
          <a:solidFill>
            <a:srgbClr val="FDFC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159500" y="4264664"/>
            <a:ext cx="2546350" cy="1158240"/>
          </a:xfrm>
          <a:custGeom>
            <a:avLst/>
            <a:gdLst/>
            <a:ahLst/>
            <a:cxnLst/>
            <a:rect l="l" t="t" r="r" b="b"/>
            <a:pathLst>
              <a:path w="2546350" h="1158240">
                <a:moveTo>
                  <a:pt x="0" y="50800"/>
                </a:moveTo>
                <a:lnTo>
                  <a:pt x="0" y="50800"/>
                </a:lnTo>
                <a:arcTo hR="50800" wR="50800" stAng="10800000" swAng="5400000"/>
                <a:lnTo>
                  <a:pt x="2495550" y="0"/>
                </a:lnTo>
                <a:arcTo hR="50800" wR="50800" stAng="16200000" swAng="5400000"/>
                <a:lnTo>
                  <a:pt x="2546350" y="50800"/>
                </a:lnTo>
                <a:arcTo hR="12700" wR="50800" stAng="0" swAng="-5400000"/>
                <a:lnTo>
                  <a:pt x="50800" y="38100"/>
                </a:lnTo>
                <a:arcTo hR="12700" wR="50800" stAng="16200000" swAng="-5400000"/>
                <a:close/>
              </a:path>
            </a:pathLst>
          </a:custGeom>
          <a:solidFill>
            <a:srgbClr val="1BAF7A"/>
          </a:solidFill>
          <a:ln/>
        </p:spPr>
      </p:sp>
      <p:sp>
        <p:nvSpPr>
          <p:cNvPr id="16" name="Text 13"/>
          <p:cNvSpPr/>
          <p:nvPr/>
        </p:nvSpPr>
        <p:spPr>
          <a:xfrm>
            <a:off x="6311900" y="4427221"/>
            <a:ext cx="23087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Mixto / transbordo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11900" y="4678679"/>
            <a:ext cx="2308796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2 · 24 est. · AM ≈ PM · Portal El Dorado, Alcalá, Restrepo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32850" y="4264664"/>
            <a:ext cx="2546350" cy="1158240"/>
          </a:xfrm>
          <a:prstGeom prst="roundRect">
            <a:avLst>
              <a:gd name="adj" fmla="val 4386"/>
            </a:avLst>
          </a:prstGeom>
          <a:solidFill>
            <a:srgbClr val="FDFCFA"/>
          </a:solidFill>
          <a:ln/>
        </p:spPr>
      </p:sp>
      <p:sp>
        <p:nvSpPr>
          <p:cNvPr id="19" name="Shape 16"/>
          <p:cNvSpPr/>
          <p:nvPr/>
        </p:nvSpPr>
        <p:spPr>
          <a:xfrm>
            <a:off x="8832850" y="4264664"/>
            <a:ext cx="2546350" cy="1158240"/>
          </a:xfrm>
          <a:custGeom>
            <a:avLst/>
            <a:gdLst/>
            <a:ahLst/>
            <a:cxnLst/>
            <a:rect l="l" t="t" r="r" b="b"/>
            <a:pathLst>
              <a:path w="2546350" h="1158240">
                <a:moveTo>
                  <a:pt x="0" y="50800"/>
                </a:moveTo>
                <a:lnTo>
                  <a:pt x="0" y="50800"/>
                </a:lnTo>
                <a:arcTo hR="50800" wR="50800" stAng="10800000" swAng="5400000"/>
                <a:lnTo>
                  <a:pt x="2495550" y="0"/>
                </a:lnTo>
                <a:arcTo hR="50800" wR="50800" stAng="16200000" swAng="5400000"/>
                <a:lnTo>
                  <a:pt x="2546350" y="50800"/>
                </a:lnTo>
                <a:arcTo hR="12700" wR="50800" stAng="0" swAng="-5400000"/>
                <a:lnTo>
                  <a:pt x="50800" y="38100"/>
                </a:lnTo>
                <a:arcTo hR="12700" wR="50800" stAng="16200000" swAng="-5400000"/>
                <a:close/>
              </a:path>
            </a:pathLst>
          </a:custGeom>
          <a:solidFill>
            <a:srgbClr val="EB6834"/>
          </a:solidFill>
          <a:ln/>
        </p:spPr>
      </p:sp>
      <p:sp>
        <p:nvSpPr>
          <p:cNvPr id="20" name="Text 17"/>
          <p:cNvSpPr/>
          <p:nvPr/>
        </p:nvSpPr>
        <p:spPr>
          <a:xfrm>
            <a:off x="8985250" y="4427221"/>
            <a:ext cx="23087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Destino / salida PM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985250" y="4678679"/>
            <a:ext cx="230879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1 · 65 est. · 52 % PM · Calle 100, Calle 76, Flores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K-Means sobre la curva horaria normalizada (forma del día, sin volumen)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ACCESOS EN PORTALES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Reforzar el acceso, no solo la estación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6811010" cy="3445510"/>
          </a:xfrm>
          <a:prstGeom prst="roundRect">
            <a:avLst>
              <a:gd name="adj" fmla="val 2119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Curvas por hora de los tres accesos más usados en las seis estaciones más grandes; en varios portales las plataformas de alimentación igualan o superan al acceso peatonal">    </p:cNvPr>
          <p:cNvPicPr>
            <a:picLocks noChangeAspect="1"/>
          </p:cNvPicPr>
          <p:nvPr/>
        </p:nvPicPr>
        <p:blipFill>
          <a:blip r:embed="rId1"/>
          <a:srcRect l="0" r="0" t="-538" b="-538"/>
          <a:stretch/>
        </p:blipFill>
        <p:spPr>
          <a:xfrm>
            <a:off x="919480" y="2087879"/>
            <a:ext cx="6604000" cy="3238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4960" y="2604771"/>
            <a:ext cx="354756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B832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51–75 %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934960" y="3422650"/>
            <a:ext cx="354756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las validaciones de los portales entra por </a:t>
            </a: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plataformas de alimentación</a:t>
            </a:r>
            <a:r>
              <a:rPr lang="en-US" sz="14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 por el acceso peatonal.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4960" y="4347214"/>
            <a:ext cx="35475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apoyo debe repartirse donde se controla el flujo de entrada.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tres accesos más usados de las seis estaciones más grandes (día hábil)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8322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8643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· MODELO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418079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¿El histórico reciente permite anticipar mañana?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5500" y="4064000"/>
            <a:ext cx="0" cy="929640"/>
          </a:xfrm>
          <a:prstGeom prst="line">
            <a:avLst/>
          </a:prstGeom>
          <a:noFill/>
          <a:ln w="25400">
            <a:solidFill>
              <a:srgbClr val="6B7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1400" y="4114800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ya tenemos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4409442"/>
            <a:ext cx="48922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ranking dice dónde y cuándo </a:t>
            </a:r>
            <a:r>
              <a:rPr lang="en-US" sz="1500" b="1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hubo</a:t>
            </a:r>
            <a:r>
              <a:rPr lang="en-US" sz="1500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presión.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0300" y="4064000"/>
            <a:ext cx="0" cy="929640"/>
          </a:xfrm>
          <a:prstGeom prst="line">
            <a:avLst/>
          </a:prstGeom>
          <a:noFill/>
          <a:ln w="25400">
            <a:solidFill>
              <a:srgbClr val="F08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200" y="4114800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necesita el operador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6200" y="4409442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Saber dónde y cuándo </a:t>
            </a:r>
            <a:r>
              <a:rPr lang="en-US" sz="15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habrá</a:t>
            </a:r>
            <a:r>
              <a:rPr lang="en-US" sz="1500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presión, con anticipación y un error conocido, para programar turnos.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· POR QUÉ SE PUEDE PREDECIR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Estación × hora × tipo de día lo explica casi todo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73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tipo de día (hábil / no hábil)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02200" y="1879600"/>
            <a:ext cx="400050" cy="266700"/>
          </a:xfrm>
          <a:prstGeom prst="roundRect">
            <a:avLst>
              <a:gd name="adj" fmla="val 9524"/>
            </a:avLst>
          </a:prstGeom>
          <a:solidFill>
            <a:srgbClr val="B9C2CC"/>
          </a:solidFill>
          <a:ln/>
        </p:spPr>
      </p:sp>
      <p:sp>
        <p:nvSpPr>
          <p:cNvPr id="6" name="Text 4"/>
          <p:cNvSpPr/>
          <p:nvPr/>
        </p:nvSpPr>
        <p:spPr>
          <a:xfrm>
            <a:off x="5454650" y="1897379"/>
            <a:ext cx="49577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7,0 %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2529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hora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02200" y="2235200"/>
            <a:ext cx="1301750" cy="266700"/>
          </a:xfrm>
          <a:prstGeom prst="roundRect">
            <a:avLst>
              <a:gd name="adj" fmla="val 9524"/>
            </a:avLst>
          </a:prstGeom>
          <a:solidFill>
            <a:srgbClr val="B9C2CC"/>
          </a:solidFill>
          <a:ln/>
        </p:spPr>
      </p:sp>
      <p:sp>
        <p:nvSpPr>
          <p:cNvPr id="9" name="Text 7"/>
          <p:cNvSpPr/>
          <p:nvPr/>
        </p:nvSpPr>
        <p:spPr>
          <a:xfrm>
            <a:off x="6356350" y="22529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22,8 %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26085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Hora × tipo de día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02200" y="2590800"/>
            <a:ext cx="1746250" cy="266700"/>
          </a:xfrm>
          <a:prstGeom prst="roundRect">
            <a:avLst>
              <a:gd name="adj" fmla="val 9524"/>
            </a:avLst>
          </a:prstGeom>
          <a:solidFill>
            <a:srgbClr val="B9C2CC"/>
          </a:solidFill>
          <a:ln/>
        </p:spPr>
      </p:sp>
      <p:sp>
        <p:nvSpPr>
          <p:cNvPr id="12" name="Text 10"/>
          <p:cNvSpPr/>
          <p:nvPr/>
        </p:nvSpPr>
        <p:spPr>
          <a:xfrm>
            <a:off x="6800850" y="26085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30,6 %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29641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estación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02200" y="2946400"/>
            <a:ext cx="2679700" cy="266700"/>
          </a:xfrm>
          <a:prstGeom prst="roundRect">
            <a:avLst>
              <a:gd name="adj" fmla="val 9524"/>
            </a:avLst>
          </a:prstGeom>
          <a:solidFill>
            <a:srgbClr val="8C9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734300" y="29641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46,9 %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3197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Estación + forma horaria común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02200" y="3302000"/>
            <a:ext cx="4432300" cy="266700"/>
          </a:xfrm>
          <a:prstGeom prst="roundRect">
            <a:avLst>
              <a:gd name="adj" fmla="val 9524"/>
            </a:avLst>
          </a:prstGeom>
          <a:solidFill>
            <a:srgbClr val="8C9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486900" y="33197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77,5 %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36753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Estación × hora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02200" y="3657600"/>
            <a:ext cx="5118100" cy="266700"/>
          </a:xfrm>
          <a:prstGeom prst="roundRect">
            <a:avLst>
              <a:gd name="adj" fmla="val 9524"/>
            </a:avLst>
          </a:prstGeom>
          <a:solidFill>
            <a:srgbClr val="5E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36753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89,5 %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4030979"/>
            <a:ext cx="40551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Estación × hora × tipo de día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02200" y="4013200"/>
            <a:ext cx="5626100" cy="266700"/>
          </a:xfrm>
          <a:prstGeom prst="roundRect">
            <a:avLst>
              <a:gd name="adj" fmla="val 9524"/>
            </a:avLst>
          </a:prstGeom>
          <a:solidFill>
            <a:srgbClr val="B832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680700" y="4030979"/>
            <a:ext cx="59483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98,4 %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4831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barra = qué parte de la demanda se explica sabiendo solo eso. Conociendo estación, hora y tipo de día ya se explica el </a:t>
            </a: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98 %</a:t>
            </a:r>
            <a:r>
              <a:rPr lang="en-US" sz="14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y de un día hábil a otro cada estación cambia apenas </a:t>
            </a:r>
            <a:r>
              <a:rPr lang="en-US" sz="14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3,5 %</a:t>
            </a:r>
            <a:r>
              <a:rPr lang="en-US" sz="14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Medida: % de devianza de Poisson explicada (similar al R² para datos de conteo) · Prueba con 11 días (3–13 ago 2026)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· CÓMO LO EVALUAMOS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Entrenar con el pasado, medir en días futuros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600"/>
            <a:ext cx="7486094" cy="711200"/>
          </a:xfrm>
          <a:prstGeom prst="roundRect">
            <a:avLst>
              <a:gd name="adj" fmla="val 7143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06600"/>
            <a:ext cx="734440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Entrenamiento · 3 al 10 de agosto (8 fechas)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0600" y="2250442"/>
            <a:ext cx="73444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modelo solo ve estos días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49694" y="1879600"/>
            <a:ext cx="3029506" cy="711200"/>
          </a:xfrm>
          <a:prstGeom prst="roundRect">
            <a:avLst>
              <a:gd name="adj" fmla="val 7143"/>
            </a:avLst>
          </a:prstGeom>
          <a:solidFill>
            <a:srgbClr val="B8322A"/>
          </a:solidFill>
          <a:ln/>
        </p:spPr>
      </p:sp>
      <p:sp>
        <p:nvSpPr>
          <p:cNvPr id="8" name="Text 6"/>
          <p:cNvSpPr/>
          <p:nvPr/>
        </p:nvSpPr>
        <p:spPr>
          <a:xfrm>
            <a:off x="8527494" y="2006600"/>
            <a:ext cx="275412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7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· 11–13 ago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27494" y="2250442"/>
            <a:ext cx="27541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E3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días hábiles nuevos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04160"/>
          <a:ext cx="7127240" cy="1981200"/>
        </p:xfrm>
        <a:graphic>
          <a:graphicData uri="http://schemas.openxmlformats.org/drawingml/2006/table">
            <a:tbl>
              <a:tblPr/>
              <a:tblGrid>
                <a:gridCol w="2423262"/>
                <a:gridCol w="4703978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Método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Cómo predice cada estación y hora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Ayer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Misma hora del día anterior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Hace 7 días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Misma hora, mismo día de la semana pasada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Último comparable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Último día del mismo tipo (hábil / sáb / dom)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Promedio comparable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Promedio de los días anteriores del mismo tipo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(Gradient Boosting)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Aprende de hora, día, estación e historia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207375" y="2797175"/>
            <a:ext cx="3168650" cy="1781810"/>
          </a:xfrm>
          <a:prstGeom prst="roundRect">
            <a:avLst>
              <a:gd name="adj" fmla="val 4098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7080" y="2976879"/>
            <a:ext cx="28935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Métrica: WAPE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87080" y="3268979"/>
            <a:ext cx="289351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absoluto total ÷ validaciones reales. Un WAPE de 6 % significa que el error suma 6 de cada 100 validaciones.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87080" y="3972564"/>
            <a:ext cx="289351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“trampa”: cada predicción usa solo datos anteriores al día pronosticado.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de concepto con 11 días (3–13 ago 2026)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promedio de días comparables gana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91360"/>
          <a:ext cx="6847840" cy="2301240"/>
        </p:xfrm>
        <a:graphic>
          <a:graphicData uri="http://schemas.openxmlformats.org/drawingml/2006/table">
            <a:tbl>
              <a:tblPr/>
              <a:tblGrid>
                <a:gridCol w="2944571"/>
                <a:gridCol w="1301090"/>
                <a:gridCol w="1301090"/>
                <a:gridCol w="130109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Método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WAPE día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WAPE pico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E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Ayer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7,0 %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6,5 %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42,9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Hace 7 días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8,2 %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7,4 %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50,1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Último comparable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7,0 %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6,5 %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42,9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Promedio comparable (mejor)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C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6,0 %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C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5,4 %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C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36,6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CD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· Gradient Boosting Poisson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7,8 %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7,7 %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2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47,7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75600" y="2056129"/>
            <a:ext cx="3403600" cy="1546860"/>
          </a:xfrm>
          <a:prstGeom prst="roundRect">
            <a:avLst>
              <a:gd name="adj" fmla="val 4926"/>
            </a:avLst>
          </a:prstGeom>
          <a:solidFill>
            <a:srgbClr val="18222F"/>
          </a:solidFill>
          <a:ln/>
        </p:spPr>
      </p:sp>
      <p:sp>
        <p:nvSpPr>
          <p:cNvPr id="6" name="Text 3"/>
          <p:cNvSpPr/>
          <p:nvPr/>
        </p:nvSpPr>
        <p:spPr>
          <a:xfrm>
            <a:off x="8178800" y="2259329"/>
            <a:ext cx="308711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0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6,0 %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178800" y="2937514"/>
            <a:ext cx="30871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error al anticipar el día siguiente (5,4 % en hora pico)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75600" y="3755392"/>
            <a:ext cx="350570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ML queda con </a:t>
            </a:r>
            <a:r>
              <a:rPr lang="en-US" sz="13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30 % más error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la referencia sencilla.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= error absoluto medio en validaciones por hora · Prueba en 11, 12 y 13 de agosto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· EJEMPLO: PORTAL AMÉRICAS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Pronóstico y realidad casi se superponen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10560050" cy="3001010"/>
          </a:xfrm>
          <a:prstGeom prst="roundRect">
            <a:avLst>
              <a:gd name="adj" fmla="val 2433"/>
            </a:avLst>
          </a:prstGeom>
          <a:solidFill>
            <a:srgbClr val="FDFCFA"/>
          </a:solidFill>
          <a:ln w="6350">
            <a:solidFill>
              <a:srgbClr val="DCD6CB"/>
            </a:solidFill>
            <a:prstDash val="solid"/>
          </a:ln>
        </p:spPr>
      </p:sp>
      <p:pic>
        <p:nvPicPr>
          <p:cNvPr id="5" name="Image 0" descr="Portal Américas, 11 al 13 de agosto: la curva real, la del modelo ML y la del último día comparable casi coinciden hora a hora, con picos cercanos a 14 mil validaciones a las 6 a. m.">    </p:cNvPr>
          <p:cNvPicPr>
            <a:picLocks noChangeAspect="1"/>
          </p:cNvPicPr>
          <p:nvPr/>
        </p:nvPicPr>
        <p:blipFill>
          <a:blip r:embed="rId1"/>
          <a:srcRect l="-12987" r="-12987" t="0" b="0"/>
          <a:stretch/>
        </p:blipFill>
        <p:spPr>
          <a:xfrm>
            <a:off x="920750" y="1986279"/>
            <a:ext cx="10350500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0901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forma del día ya se conoce; el reto está en las </a:t>
            </a: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desviaciones puntuales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del pico, donde se juega el refuerzo.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Ilustración: pronóstico hora a hora en las fechas de prueba (4–23 h)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32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· JUSTIFICACIÓN DEL MODELO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8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qué elegimos el modelo más simple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600"/>
            <a:ext cx="5207000" cy="1112520"/>
          </a:xfrm>
          <a:prstGeom prst="roundRect">
            <a:avLst>
              <a:gd name="adj" fmla="val 4566"/>
            </a:avLst>
          </a:prstGeom>
          <a:solidFill>
            <a:srgbClr val="FDFCF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79600"/>
            <a:ext cx="5207000" cy="1112520"/>
          </a:xfrm>
          <a:custGeom>
            <a:avLst/>
            <a:gdLst/>
            <a:ahLst/>
            <a:cxnLst/>
            <a:rect l="l" t="t" r="r" b="b"/>
            <a:pathLst>
              <a:path w="5207000" h="1112520">
                <a:moveTo>
                  <a:pt x="50800" y="1112520"/>
                </a:moveTo>
                <a:lnTo>
                  <a:pt x="50800" y="1112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1061720"/>
                </a:lnTo>
                <a:arcTo hR="50800" wR="12700" stAng="10800000" swAng="-5400000"/>
                <a:close/>
              </a:path>
            </a:pathLst>
          </a:custGeom>
          <a:solidFill>
            <a:srgbClr val="B8322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Es el más preciso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352042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promedio de días comparables anticipa mañana con 6 % de error (5,4 % en pico). Ningún otro método lo superó.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9600"/>
            <a:ext cx="5207000" cy="1112520"/>
          </a:xfrm>
          <a:prstGeom prst="roundRect">
            <a:avLst>
              <a:gd name="adj" fmla="val 4566"/>
            </a:avLst>
          </a:prstGeom>
          <a:solidFill>
            <a:srgbClr val="FDFCFA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879600"/>
            <a:ext cx="5207000" cy="1112520"/>
          </a:xfrm>
          <a:custGeom>
            <a:avLst/>
            <a:gdLst/>
            <a:ahLst/>
            <a:cxnLst/>
            <a:rect l="l" t="t" r="r" b="b"/>
            <a:pathLst>
              <a:path w="5207000" h="1112520">
                <a:moveTo>
                  <a:pt x="50800" y="1112520"/>
                </a:moveTo>
                <a:lnTo>
                  <a:pt x="50800" y="1112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1061720"/>
                </a:lnTo>
                <a:arcTo hR="50800" wR="12700" stAng="10800000" swAng="-5400000"/>
                <a:close/>
              </a:path>
            </a:pathLst>
          </a:custGeom>
          <a:solidFill>
            <a:srgbClr val="B8322A"/>
          </a:solidFill>
          <a:ln/>
        </p:spPr>
      </p:sp>
      <p:sp>
        <p:nvSpPr>
          <p:cNvPr id="10" name="Text 8"/>
          <p:cNvSpPr/>
          <p:nvPr/>
        </p:nvSpPr>
        <p:spPr>
          <a:xfrm>
            <a:off x="6410960" y="205740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Es lo que los datos indican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0960" y="2352042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Estación × hora × tipo de día explica el 98 % y los hábiles varían ~3,5 %: el pasado es la mejor guía.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144527"/>
            <a:ext cx="5207000" cy="1112520"/>
          </a:xfrm>
          <a:prstGeom prst="roundRect">
            <a:avLst>
              <a:gd name="adj" fmla="val 4566"/>
            </a:avLst>
          </a:prstGeom>
          <a:solidFill>
            <a:srgbClr val="FDFC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144527"/>
            <a:ext cx="5207000" cy="1112520"/>
          </a:xfrm>
          <a:custGeom>
            <a:avLst/>
            <a:gdLst/>
            <a:ahLst/>
            <a:cxnLst/>
            <a:rect l="l" t="t" r="r" b="b"/>
            <a:pathLst>
              <a:path w="5207000" h="1112520">
                <a:moveTo>
                  <a:pt x="50800" y="1112520"/>
                </a:moveTo>
                <a:lnTo>
                  <a:pt x="50800" y="1112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1061720"/>
                </a:lnTo>
                <a:arcTo hR="50800" wR="12700" stAng="10800000" swAng="-5400000"/>
                <a:close/>
              </a:path>
            </a:pathLst>
          </a:cu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22327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El ML aún no se justifica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616958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8 fechas de entrenamiento (5 con historia previa). Su variable más importante es… el mismo promedio.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44527"/>
            <a:ext cx="5207000" cy="1112520"/>
          </a:xfrm>
          <a:prstGeom prst="roundRect">
            <a:avLst>
              <a:gd name="adj" fmla="val 4566"/>
            </a:avLst>
          </a:prstGeom>
          <a:solidFill>
            <a:srgbClr val="FDFC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3144527"/>
            <a:ext cx="5207000" cy="1112520"/>
          </a:xfrm>
          <a:custGeom>
            <a:avLst/>
            <a:gdLst/>
            <a:ahLst/>
            <a:cxnLst/>
            <a:rect l="l" t="t" r="r" b="b"/>
            <a:pathLst>
              <a:path w="5207000" h="1112520">
                <a:moveTo>
                  <a:pt x="50800" y="1112520"/>
                </a:moveTo>
                <a:lnTo>
                  <a:pt x="50800" y="1112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1061720"/>
                </a:lnTo>
                <a:arcTo hR="50800" wR="12700" stAng="10800000" swAng="-5400000"/>
                <a:close/>
              </a:path>
            </a:pathLst>
          </a:cu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10960" y="3322327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Es fácil de explicar y operar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0960" y="3616958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Cualquier supervisor lo entiende y lo calcula, y queda como la vara que un ML futuro debe superar.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460242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Siguiente paso:</a:t>
            </a:r>
            <a:r>
              <a:rPr lang="en-US" sz="1300" dirty="0">
                <a:solidFill>
                  <a:srgbClr val="18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más semanas y datos de eventos, obras y clima, el ML podría corregir donde el promedio falla (Av. Jiménez temporal, Calle 40 Sur, CAD, El Campín, Corferias).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de concepto con 11 días (3–13 ago 2026)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· CONCLUSIONES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Respuesta a la pregunta de estudio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437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38685"/>
            <a:ext cx="19621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71800" y="2138685"/>
            <a:ext cx="865962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Mañana: portales (Américas, Suba, Sur, Usme) y sus plataformas de alimentación. Tarde: Calle 100, Museo Nacional, Flores, San Victorino.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792102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946400"/>
            <a:ext cx="19621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71800" y="2946400"/>
            <a:ext cx="865962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5–8 a. m. y 4–7 p. m. de días hábiles: el 5 % de las combinaciones estación–hora reúne el 39 % de la demanda.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599817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754127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planear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3754127"/>
            <a:ext cx="865962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el promedio de días comparables se anticipa el día siguiente con ~6 % de 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419417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500062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4348485"/>
            <a:ext cx="19621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4348485"/>
            <a:ext cx="865962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datos dicen dónde y cuándo, no cuántas personas: falta la capacidad de las estaciones y los tiempos de fila.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anda TransMilenio: dónde y cuándo reforzar">
  <a:themeElements>
    <a:clrScheme name="Demanda TransMilenio: dónde y cuándo reforzar">
      <a:dk1>
        <a:srgbClr val="18222F"/>
      </a:dk1>
      <a:lt1>
        <a:srgbClr val="F5F2EC"/>
      </a:lt1>
      <a:dk2>
        <a:srgbClr val="4F565E"/>
      </a:dk2>
      <a:lt2>
        <a:srgbClr val="DFDDD9"/>
      </a:lt2>
      <a:accent1>
        <a:srgbClr val="B8322A"/>
      </a:accent1>
      <a:accent2>
        <a:srgbClr val="F08A80"/>
      </a:accent2>
      <a:accent3>
        <a:srgbClr val="1F3A5F"/>
      </a:accent3>
      <a:accent4>
        <a:srgbClr val="4A5563"/>
      </a:accent4>
      <a:accent5>
        <a:srgbClr val="6B7480"/>
      </a:accent5>
      <a:accent6>
        <a:srgbClr val="C9D1DA"/>
      </a:accent6>
      <a:hlink>
        <a:srgbClr val="0563C1"/>
      </a:hlink>
      <a:folHlink>
        <a:srgbClr val="954F72"/>
      </a:folHlink>
    </a:clrScheme>
    <a:fontScheme name="Demanda TransMilenio: dónde y cuándo reforzar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Demanda TransMilenio: dónde y cuándo reforzar</dc:title>
  <dc:subject/>
  <dc:creator/>
  <cp:lastModifiedBy/>
  <cp:revision>1</cp:revision>
  <dcterms:created xsi:type="dcterms:W3CDTF">2026-10-08T01:44:31Z</dcterms:created>
  <dcterms:modified xsi:type="dcterms:W3CDTF">2026-10-08T01:44:31Z</dcterms:modified>
</cp:coreProperties>
</file>